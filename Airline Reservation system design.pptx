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24"/>
  </p:notesMasterIdLst>
  <p:handoutMasterIdLst>
    <p:handoutMasterId r:id="rId25"/>
  </p:handoutMasterIdLst>
  <p:sldIdLst>
    <p:sldId id="1497" r:id="rId5"/>
    <p:sldId id="1523" r:id="rId6"/>
    <p:sldId id="1515" r:id="rId7"/>
    <p:sldId id="1516" r:id="rId8"/>
    <p:sldId id="1522" r:id="rId9"/>
    <p:sldId id="1518" r:id="rId10"/>
    <p:sldId id="1519" r:id="rId11"/>
    <p:sldId id="1520" r:id="rId12"/>
    <p:sldId id="1517" r:id="rId13"/>
    <p:sldId id="1521" r:id="rId14"/>
    <p:sldId id="1524" r:id="rId15"/>
    <p:sldId id="1526" r:id="rId16"/>
    <p:sldId id="1525" r:id="rId17"/>
    <p:sldId id="1527" r:id="rId18"/>
    <p:sldId id="1528" r:id="rId19"/>
    <p:sldId id="1529" r:id="rId20"/>
    <p:sldId id="1530" r:id="rId21"/>
    <p:sldId id="1531" r:id="rId22"/>
    <p:sldId id="151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079" autoAdjust="0"/>
  </p:normalViewPr>
  <p:slideViewPr>
    <p:cSldViewPr snapToGrid="0">
      <p:cViewPr>
        <p:scale>
          <a:sx n="74" d="100"/>
          <a:sy n="74" d="100"/>
        </p:scale>
        <p:origin x="376" y="-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859" y="2274177"/>
            <a:ext cx="8686801" cy="2565902"/>
          </a:xfrm>
        </p:spPr>
        <p:txBody>
          <a:bodyPr>
            <a:normAutofit/>
          </a:bodyPr>
          <a:lstStyle/>
          <a:p>
            <a:r>
              <a:rPr lang="en-US" dirty="0"/>
              <a:t>Airline Reservation system design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3719" y="5235587"/>
            <a:ext cx="3024899" cy="547908"/>
          </a:xfrm>
        </p:spPr>
        <p:txBody>
          <a:bodyPr>
            <a:normAutofit/>
          </a:bodyPr>
          <a:lstStyle/>
          <a:p>
            <a:r>
              <a:rPr lang="en-US" dirty="0"/>
              <a:t>Domenica Vasco - 3772200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65F820E-BC2D-333F-2ED8-D3871368CAC1}"/>
              </a:ext>
            </a:extLst>
          </p:cNvPr>
          <p:cNvSpPr txBox="1">
            <a:spLocks/>
          </p:cNvSpPr>
          <p:nvPr/>
        </p:nvSpPr>
        <p:spPr>
          <a:xfrm>
            <a:off x="1442734" y="1330761"/>
            <a:ext cx="3024899" cy="547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1103 Project </a:t>
            </a:r>
          </a:p>
        </p:txBody>
      </p:sp>
      <p:pic>
        <p:nvPicPr>
          <p:cNvPr id="1026" name="Picture 2" descr="Free Airplane Vector Clipart (PNG, SVG) to Edit Online">
            <a:extLst>
              <a:ext uri="{FF2B5EF4-FFF2-40B4-BE49-F238E27FC236}">
                <a16:creationId xmlns:a16="http://schemas.microsoft.com/office/drawing/2014/main" id="{11A11FA7-0DA3-549B-8EB9-F59EEEEF60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26"/>
          <a:stretch>
            <a:fillRect/>
          </a:stretch>
        </p:blipFill>
        <p:spPr bwMode="auto">
          <a:xfrm>
            <a:off x="8548979" y="4840078"/>
            <a:ext cx="2776654" cy="2017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33D14-38C8-C5E1-6850-292EBBD05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1D2AA-FC59-FE0F-198A-14CCD4A04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58" y="726155"/>
            <a:ext cx="10871548" cy="862215"/>
          </a:xfrm>
        </p:spPr>
        <p:txBody>
          <a:bodyPr/>
          <a:lstStyle/>
          <a:p>
            <a:r>
              <a:rPr lang="en-US" sz="3200" b="1" dirty="0">
                <a:latin typeface="Amasis MT Pro Black" panose="02040A04050005020304" pitchFamily="18" charset="0"/>
              </a:rPr>
              <a:t>ER diagram:</a:t>
            </a:r>
          </a:p>
        </p:txBody>
      </p:sp>
      <p:pic>
        <p:nvPicPr>
          <p:cNvPr id="3074" name="Picture 2" descr="Free Airplane Vector Clipart (PNG, SVG) to Edit Online">
            <a:extLst>
              <a:ext uri="{FF2B5EF4-FFF2-40B4-BE49-F238E27FC236}">
                <a16:creationId xmlns:a16="http://schemas.microsoft.com/office/drawing/2014/main" id="{8886AB68-21F3-AB67-036D-D60E63610C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2" b="27805"/>
          <a:stretch>
            <a:fillRect/>
          </a:stretch>
        </p:blipFill>
        <p:spPr bwMode="auto">
          <a:xfrm>
            <a:off x="9333570" y="591454"/>
            <a:ext cx="1730298" cy="78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760A11-DA23-0EC4-C890-D7D5370C0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683" y="1157262"/>
            <a:ext cx="5732633" cy="5315638"/>
          </a:xfrm>
          <a:prstGeom prst="rect">
            <a:avLst/>
          </a:prstGeom>
        </p:spPr>
      </p:pic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8FD1C063-A4CC-535E-1821-A577EC6046C3}"/>
              </a:ext>
            </a:extLst>
          </p:cNvPr>
          <p:cNvSpPr/>
          <p:nvPr/>
        </p:nvSpPr>
        <p:spPr>
          <a:xfrm rot="10800000">
            <a:off x="4531360" y="2953173"/>
            <a:ext cx="128693" cy="74507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DAED37F0-FE1A-EC42-ECCC-52944642059B}"/>
              </a:ext>
            </a:extLst>
          </p:cNvPr>
          <p:cNvSpPr/>
          <p:nvPr/>
        </p:nvSpPr>
        <p:spPr>
          <a:xfrm rot="10800000">
            <a:off x="4531360" y="3027681"/>
            <a:ext cx="128693" cy="74507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5DA7C2B5-958B-3983-B3AE-CF23F5968000}"/>
              </a:ext>
            </a:extLst>
          </p:cNvPr>
          <p:cNvSpPr/>
          <p:nvPr/>
        </p:nvSpPr>
        <p:spPr>
          <a:xfrm rot="10800000">
            <a:off x="6224421" y="3027682"/>
            <a:ext cx="128693" cy="74507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161E979E-8F05-D54E-2FE3-E92A62B40FE4}"/>
              </a:ext>
            </a:extLst>
          </p:cNvPr>
          <p:cNvSpPr/>
          <p:nvPr/>
        </p:nvSpPr>
        <p:spPr>
          <a:xfrm rot="10800000">
            <a:off x="6534950" y="4740750"/>
            <a:ext cx="128693" cy="74507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178D735C-907C-8701-35F8-5A91F0129020}"/>
              </a:ext>
            </a:extLst>
          </p:cNvPr>
          <p:cNvSpPr/>
          <p:nvPr/>
        </p:nvSpPr>
        <p:spPr>
          <a:xfrm rot="10800000">
            <a:off x="6534950" y="4604392"/>
            <a:ext cx="128693" cy="74507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18A491-32B8-0248-96AC-F95DDE0A332E}"/>
              </a:ext>
            </a:extLst>
          </p:cNvPr>
          <p:cNvSpPr/>
          <p:nvPr/>
        </p:nvSpPr>
        <p:spPr>
          <a:xfrm>
            <a:off x="6224421" y="4321834"/>
            <a:ext cx="952756" cy="4934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4446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69D7-B606-9F0B-DD2B-52121FA6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41E5C-6856-F9E1-1D8D-D52F236D7A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45212" y="1812393"/>
            <a:ext cx="10871547" cy="8622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err="1"/>
              <a:t>Passenger_ID</a:t>
            </a:r>
            <a:r>
              <a:rPr lang="en-US" sz="1600" dirty="0"/>
              <a:t> is my primary key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2B2B4A-F06A-532A-7636-048F8536E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58" y="726155"/>
            <a:ext cx="10871548" cy="862215"/>
          </a:xfrm>
        </p:spPr>
        <p:txBody>
          <a:bodyPr/>
          <a:lstStyle/>
          <a:p>
            <a:r>
              <a:rPr lang="en-US" sz="3200" b="1" dirty="0">
                <a:latin typeface="Amasis MT Pro Black" panose="02040A04050005020304" pitchFamily="18" charset="0"/>
              </a:rPr>
              <a:t>DDL statements for each entity:</a:t>
            </a:r>
          </a:p>
        </p:txBody>
      </p:sp>
      <p:pic>
        <p:nvPicPr>
          <p:cNvPr id="3074" name="Picture 2" descr="Free Airplane Vector Clipart (PNG, SVG) to Edit Online">
            <a:extLst>
              <a:ext uri="{FF2B5EF4-FFF2-40B4-BE49-F238E27FC236}">
                <a16:creationId xmlns:a16="http://schemas.microsoft.com/office/drawing/2014/main" id="{0A25126F-5E6E-C3B0-CA76-C2DB8099EC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2" b="27805"/>
          <a:stretch>
            <a:fillRect/>
          </a:stretch>
        </p:blipFill>
        <p:spPr bwMode="auto">
          <a:xfrm>
            <a:off x="9333570" y="591454"/>
            <a:ext cx="1730298" cy="78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60E7EC-FA1D-3C4B-F7C5-29F4EA63E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00" y="1235220"/>
            <a:ext cx="6468378" cy="1619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F3BA20-6FAF-DC91-0C6F-D648FEA6C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100" y="2701891"/>
            <a:ext cx="6468378" cy="22031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40ED29-EA96-A0DC-7CBE-7DB974C2DA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204"/>
          <a:stretch>
            <a:fillRect/>
          </a:stretch>
        </p:blipFill>
        <p:spPr>
          <a:xfrm>
            <a:off x="732101" y="4831828"/>
            <a:ext cx="6468378" cy="1581904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6A6E815-CF7F-F4FD-4F02-F754814AB6E3}"/>
              </a:ext>
            </a:extLst>
          </p:cNvPr>
          <p:cNvSpPr txBox="1">
            <a:spLocks/>
          </p:cNvSpPr>
          <p:nvPr/>
        </p:nvSpPr>
        <p:spPr>
          <a:xfrm>
            <a:off x="7445212" y="4905060"/>
            <a:ext cx="4240107" cy="862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Transaction references </a:t>
            </a:r>
            <a:r>
              <a:rPr lang="en-US" dirty="0"/>
              <a:t>Passenger</a:t>
            </a:r>
            <a:r>
              <a:rPr lang="en-US" sz="1600" dirty="0"/>
              <a:t> via       foreign key (every transaction must be linked to a real passenger)</a:t>
            </a:r>
          </a:p>
        </p:txBody>
      </p:sp>
    </p:spTree>
    <p:extLst>
      <p:ext uri="{BB962C8B-B14F-4D97-AF65-F5344CB8AC3E}">
        <p14:creationId xmlns:p14="http://schemas.microsoft.com/office/powerpoint/2010/main" val="215897210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769D0-C161-668A-DF5A-6CF66697C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52ECE-1DC2-241C-68BD-2BE24B56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58" y="726155"/>
            <a:ext cx="10871548" cy="862215"/>
          </a:xfrm>
        </p:spPr>
        <p:txBody>
          <a:bodyPr/>
          <a:lstStyle/>
          <a:p>
            <a:r>
              <a:rPr lang="en-US" sz="3200" b="1" dirty="0">
                <a:latin typeface="Amasis MT Pro Black" panose="02040A04050005020304" pitchFamily="18" charset="0"/>
              </a:rPr>
              <a:t>DDL statements for each entity:</a:t>
            </a:r>
          </a:p>
        </p:txBody>
      </p:sp>
      <p:pic>
        <p:nvPicPr>
          <p:cNvPr id="3074" name="Picture 2" descr="Free Airplane Vector Clipart (PNG, SVG) to Edit Online">
            <a:extLst>
              <a:ext uri="{FF2B5EF4-FFF2-40B4-BE49-F238E27FC236}">
                <a16:creationId xmlns:a16="http://schemas.microsoft.com/office/drawing/2014/main" id="{CBF0B82D-6080-0512-3FDA-EC6E9218B7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2" b="27805"/>
          <a:stretch>
            <a:fillRect/>
          </a:stretch>
        </p:blipFill>
        <p:spPr bwMode="auto">
          <a:xfrm>
            <a:off x="9333570" y="591454"/>
            <a:ext cx="1730298" cy="78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9281831-4642-E955-412B-87323042F86F}"/>
              </a:ext>
            </a:extLst>
          </p:cNvPr>
          <p:cNvSpPr txBox="1">
            <a:spLocks/>
          </p:cNvSpPr>
          <p:nvPr/>
        </p:nvSpPr>
        <p:spPr>
          <a:xfrm>
            <a:off x="7347499" y="4124812"/>
            <a:ext cx="4240107" cy="862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4DCC2F-0C1F-D4B8-6596-E90ED3A865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941"/>
          <a:stretch>
            <a:fillRect/>
          </a:stretch>
        </p:blipFill>
        <p:spPr>
          <a:xfrm>
            <a:off x="3141875" y="1868008"/>
            <a:ext cx="6249491" cy="15609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8C41E22-ADFB-CDFD-B466-EB73266ED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1874" y="3429000"/>
            <a:ext cx="6249491" cy="242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66567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9B686-21FC-8C96-231F-DBFCF695F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C5ABC-65F6-8761-4894-F6D596992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58" y="726155"/>
            <a:ext cx="10871548" cy="862215"/>
          </a:xfrm>
        </p:spPr>
        <p:txBody>
          <a:bodyPr/>
          <a:lstStyle/>
          <a:p>
            <a:r>
              <a:rPr lang="en-US" sz="3200" b="1" dirty="0">
                <a:latin typeface="Amasis MT Pro Black" panose="02040A04050005020304" pitchFamily="18" charset="0"/>
              </a:rPr>
              <a:t>DDL Relationships:</a:t>
            </a:r>
          </a:p>
        </p:txBody>
      </p:sp>
      <p:pic>
        <p:nvPicPr>
          <p:cNvPr id="3074" name="Picture 2" descr="Free Airplane Vector Clipart (PNG, SVG) to Edit Online">
            <a:extLst>
              <a:ext uri="{FF2B5EF4-FFF2-40B4-BE49-F238E27FC236}">
                <a16:creationId xmlns:a16="http://schemas.microsoft.com/office/drawing/2014/main" id="{843DAA7D-13ED-9BA6-A6BB-94E03CA401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2" b="27805"/>
          <a:stretch>
            <a:fillRect/>
          </a:stretch>
        </p:blipFill>
        <p:spPr bwMode="auto">
          <a:xfrm>
            <a:off x="9333570" y="591454"/>
            <a:ext cx="1730298" cy="78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9562C69-405D-AC54-944B-835EC26DE7D7}"/>
              </a:ext>
            </a:extLst>
          </p:cNvPr>
          <p:cNvSpPr txBox="1">
            <a:spLocks/>
          </p:cNvSpPr>
          <p:nvPr/>
        </p:nvSpPr>
        <p:spPr>
          <a:xfrm>
            <a:off x="7347499" y="4124812"/>
            <a:ext cx="4240107" cy="862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8EE50E-256A-BBCE-DDED-04F8C0BF3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351" y="1537201"/>
            <a:ext cx="6963295" cy="20161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035E84-789C-D7BF-7BDA-71B08D8236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4352" y="3553317"/>
            <a:ext cx="6963295" cy="293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9211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CBE25-E70E-F13E-7BD0-2081A8BA9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5D39E-57DF-A490-C897-86DC8CECB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58" y="726155"/>
            <a:ext cx="10871548" cy="862215"/>
          </a:xfrm>
        </p:spPr>
        <p:txBody>
          <a:bodyPr/>
          <a:lstStyle/>
          <a:p>
            <a:r>
              <a:rPr lang="en-US" sz="3200" b="1" dirty="0">
                <a:latin typeface="Amasis MT Pro Black" panose="02040A04050005020304" pitchFamily="18" charset="0"/>
              </a:rPr>
              <a:t>Insert statements:</a:t>
            </a:r>
          </a:p>
        </p:txBody>
      </p:sp>
      <p:pic>
        <p:nvPicPr>
          <p:cNvPr id="3074" name="Picture 2" descr="Free Airplane Vector Clipart (PNG, SVG) to Edit Online">
            <a:extLst>
              <a:ext uri="{FF2B5EF4-FFF2-40B4-BE49-F238E27FC236}">
                <a16:creationId xmlns:a16="http://schemas.microsoft.com/office/drawing/2014/main" id="{B56AAE15-488B-F1A7-B221-1F58446C06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2" b="27805"/>
          <a:stretch>
            <a:fillRect/>
          </a:stretch>
        </p:blipFill>
        <p:spPr bwMode="auto">
          <a:xfrm>
            <a:off x="9333570" y="591454"/>
            <a:ext cx="1730298" cy="78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369322E-131A-FB07-0ED4-13CC8F1451A9}"/>
              </a:ext>
            </a:extLst>
          </p:cNvPr>
          <p:cNvSpPr txBox="1">
            <a:spLocks/>
          </p:cNvSpPr>
          <p:nvPr/>
        </p:nvSpPr>
        <p:spPr>
          <a:xfrm>
            <a:off x="7347499" y="4124812"/>
            <a:ext cx="4240107" cy="862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2AE49B-20C3-CE9E-239E-86C83AD2C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73" y="1723071"/>
            <a:ext cx="10436175" cy="45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1190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F90BF-45B6-4DC0-A7FB-21829147E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A25A1-2AE7-B081-68AC-CB43DE54B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58" y="726155"/>
            <a:ext cx="10871548" cy="862215"/>
          </a:xfrm>
        </p:spPr>
        <p:txBody>
          <a:bodyPr/>
          <a:lstStyle/>
          <a:p>
            <a:r>
              <a:rPr lang="en-US" sz="3200" b="1" dirty="0">
                <a:latin typeface="Amasis MT Pro Black" panose="02040A04050005020304" pitchFamily="18" charset="0"/>
              </a:rPr>
              <a:t>Insert statements:</a:t>
            </a:r>
          </a:p>
        </p:txBody>
      </p:sp>
      <p:pic>
        <p:nvPicPr>
          <p:cNvPr id="3074" name="Picture 2" descr="Free Airplane Vector Clipart (PNG, SVG) to Edit Online">
            <a:extLst>
              <a:ext uri="{FF2B5EF4-FFF2-40B4-BE49-F238E27FC236}">
                <a16:creationId xmlns:a16="http://schemas.microsoft.com/office/drawing/2014/main" id="{6243585C-D47C-5332-C8DC-E890B3BB36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2" b="27805"/>
          <a:stretch>
            <a:fillRect/>
          </a:stretch>
        </p:blipFill>
        <p:spPr bwMode="auto">
          <a:xfrm>
            <a:off x="9333570" y="591454"/>
            <a:ext cx="1730298" cy="78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6C2246-BCA2-0342-8385-74384665C09B}"/>
              </a:ext>
            </a:extLst>
          </p:cNvPr>
          <p:cNvSpPr txBox="1">
            <a:spLocks/>
          </p:cNvSpPr>
          <p:nvPr/>
        </p:nvSpPr>
        <p:spPr>
          <a:xfrm>
            <a:off x="7347499" y="4124812"/>
            <a:ext cx="4240107" cy="862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AE5655-3800-11B6-CA87-44D252115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45" y="1508306"/>
            <a:ext cx="10396910" cy="481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09984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98DE5-B8AF-DB9A-1053-DF08AE10D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27AF6-DDC2-03AD-C7E5-BF7C6317E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58" y="726155"/>
            <a:ext cx="10871548" cy="862215"/>
          </a:xfrm>
        </p:spPr>
        <p:txBody>
          <a:bodyPr/>
          <a:lstStyle/>
          <a:p>
            <a:r>
              <a:rPr lang="en-US" sz="3200" b="1" dirty="0">
                <a:latin typeface="Amasis MT Pro Black" panose="02040A04050005020304" pitchFamily="18" charset="0"/>
              </a:rPr>
              <a:t>Insert statements:</a:t>
            </a:r>
          </a:p>
        </p:txBody>
      </p:sp>
      <p:pic>
        <p:nvPicPr>
          <p:cNvPr id="3074" name="Picture 2" descr="Free Airplane Vector Clipart (PNG, SVG) to Edit Online">
            <a:extLst>
              <a:ext uri="{FF2B5EF4-FFF2-40B4-BE49-F238E27FC236}">
                <a16:creationId xmlns:a16="http://schemas.microsoft.com/office/drawing/2014/main" id="{4DACC754-4524-D7A8-4ED5-0DBFD4BC72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2" b="27805"/>
          <a:stretch>
            <a:fillRect/>
          </a:stretch>
        </p:blipFill>
        <p:spPr bwMode="auto">
          <a:xfrm>
            <a:off x="9333570" y="591454"/>
            <a:ext cx="1730298" cy="78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C6BCBF9-A469-0C0C-2AF2-76E9F2D5BB19}"/>
              </a:ext>
            </a:extLst>
          </p:cNvPr>
          <p:cNvSpPr txBox="1">
            <a:spLocks/>
          </p:cNvSpPr>
          <p:nvPr/>
        </p:nvSpPr>
        <p:spPr>
          <a:xfrm>
            <a:off x="7347499" y="4124812"/>
            <a:ext cx="4240107" cy="862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3CB65-9C53-A17B-D7EE-D88875371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15" y="1508306"/>
            <a:ext cx="10675434" cy="469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5924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7C644-5088-E41E-3963-FD3D44C6F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19D7-D8B6-BD00-D175-D096484A9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58" y="726155"/>
            <a:ext cx="10871548" cy="862215"/>
          </a:xfrm>
        </p:spPr>
        <p:txBody>
          <a:bodyPr/>
          <a:lstStyle/>
          <a:p>
            <a:r>
              <a:rPr lang="en-US" sz="3200" b="1" dirty="0">
                <a:latin typeface="Amasis MT Pro Black" panose="02040A04050005020304" pitchFamily="18" charset="0"/>
              </a:rPr>
              <a:t>Insert statements:</a:t>
            </a:r>
          </a:p>
        </p:txBody>
      </p:sp>
      <p:pic>
        <p:nvPicPr>
          <p:cNvPr id="3074" name="Picture 2" descr="Free Airplane Vector Clipart (PNG, SVG) to Edit Online">
            <a:extLst>
              <a:ext uri="{FF2B5EF4-FFF2-40B4-BE49-F238E27FC236}">
                <a16:creationId xmlns:a16="http://schemas.microsoft.com/office/drawing/2014/main" id="{788BF94A-A7D1-94A2-3083-86AC334EDE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2" b="27805"/>
          <a:stretch>
            <a:fillRect/>
          </a:stretch>
        </p:blipFill>
        <p:spPr bwMode="auto">
          <a:xfrm>
            <a:off x="9333570" y="591454"/>
            <a:ext cx="1730298" cy="78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57BE421-AB60-B6B6-7E6F-EC524AC140F7}"/>
              </a:ext>
            </a:extLst>
          </p:cNvPr>
          <p:cNvSpPr txBox="1">
            <a:spLocks/>
          </p:cNvSpPr>
          <p:nvPr/>
        </p:nvSpPr>
        <p:spPr>
          <a:xfrm>
            <a:off x="7347499" y="4124812"/>
            <a:ext cx="4240107" cy="862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6EA4B3-CDFC-2B7C-6E08-CABC31D3F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163" y="1282320"/>
            <a:ext cx="9365673" cy="509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9094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E7145-4C72-3D6C-8B34-09C747B0C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BB562-2603-0C01-B700-06D76EF47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58" y="726155"/>
            <a:ext cx="10871548" cy="862215"/>
          </a:xfrm>
        </p:spPr>
        <p:txBody>
          <a:bodyPr/>
          <a:lstStyle/>
          <a:p>
            <a:r>
              <a:rPr lang="en-US" sz="3200" b="1" dirty="0">
                <a:latin typeface="Amasis MT Pro Black" panose="02040A04050005020304" pitchFamily="18" charset="0"/>
              </a:rPr>
              <a:t>Insert statements:</a:t>
            </a:r>
          </a:p>
        </p:txBody>
      </p:sp>
      <p:pic>
        <p:nvPicPr>
          <p:cNvPr id="3074" name="Picture 2" descr="Free Airplane Vector Clipart (PNG, SVG) to Edit Online">
            <a:extLst>
              <a:ext uri="{FF2B5EF4-FFF2-40B4-BE49-F238E27FC236}">
                <a16:creationId xmlns:a16="http://schemas.microsoft.com/office/drawing/2014/main" id="{FCBEAB25-0BBC-CE9D-C87C-7261C7715A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2" b="27805"/>
          <a:stretch>
            <a:fillRect/>
          </a:stretch>
        </p:blipFill>
        <p:spPr bwMode="auto">
          <a:xfrm>
            <a:off x="9333570" y="591454"/>
            <a:ext cx="1730298" cy="78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2683111-0348-828D-3AEC-1CCCB896D2FE}"/>
              </a:ext>
            </a:extLst>
          </p:cNvPr>
          <p:cNvSpPr txBox="1">
            <a:spLocks/>
          </p:cNvSpPr>
          <p:nvPr/>
        </p:nvSpPr>
        <p:spPr>
          <a:xfrm>
            <a:off x="7347499" y="4124812"/>
            <a:ext cx="4240107" cy="862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18189D-163C-D1AD-EA22-85E61A4A2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429" y="1508306"/>
            <a:ext cx="10285141" cy="486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59224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06E39-8B7E-FF3C-C02A-ECD0D4F66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AFE8-3B0F-A3F8-9C24-2382FAEE3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58" y="726155"/>
            <a:ext cx="10871548" cy="862215"/>
          </a:xfrm>
        </p:spPr>
        <p:txBody>
          <a:bodyPr/>
          <a:lstStyle/>
          <a:p>
            <a:r>
              <a:rPr lang="en-US" sz="3200" b="1" dirty="0">
                <a:latin typeface="Amasis MT Pro Black" panose="02040A04050005020304" pitchFamily="18" charset="0"/>
              </a:rPr>
              <a:t>Insert statements (relationship):</a:t>
            </a:r>
          </a:p>
        </p:txBody>
      </p:sp>
      <p:pic>
        <p:nvPicPr>
          <p:cNvPr id="3074" name="Picture 2" descr="Free Airplane Vector Clipart (PNG, SVG) to Edit Online">
            <a:extLst>
              <a:ext uri="{FF2B5EF4-FFF2-40B4-BE49-F238E27FC236}">
                <a16:creationId xmlns:a16="http://schemas.microsoft.com/office/drawing/2014/main" id="{AC551D51-EBC8-EE80-0721-6FDFB90550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2" b="27805"/>
          <a:stretch>
            <a:fillRect/>
          </a:stretch>
        </p:blipFill>
        <p:spPr bwMode="auto">
          <a:xfrm>
            <a:off x="9333570" y="591454"/>
            <a:ext cx="1730298" cy="78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D92B43-4DCE-EB15-B1FE-11D46F834D83}"/>
              </a:ext>
            </a:extLst>
          </p:cNvPr>
          <p:cNvSpPr txBox="1">
            <a:spLocks/>
          </p:cNvSpPr>
          <p:nvPr/>
        </p:nvSpPr>
        <p:spPr>
          <a:xfrm>
            <a:off x="7347499" y="4124812"/>
            <a:ext cx="4240107" cy="862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18A224-C00C-680D-F820-A1743D67D6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462"/>
          <a:stretch>
            <a:fillRect/>
          </a:stretch>
        </p:blipFill>
        <p:spPr>
          <a:xfrm>
            <a:off x="604394" y="1788847"/>
            <a:ext cx="5943448" cy="39483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70AED6-1629-1A67-DEE9-5D2AC1FBA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842" y="2384005"/>
            <a:ext cx="5205524" cy="249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5517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50B12-62B3-44CD-DDFE-68DB849C9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EAB25-21CD-5F87-FED7-0589A92D3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58" y="384054"/>
            <a:ext cx="10871548" cy="862215"/>
          </a:xfrm>
        </p:spPr>
        <p:txBody>
          <a:bodyPr/>
          <a:lstStyle/>
          <a:p>
            <a:r>
              <a:rPr lang="en-US" sz="3200" b="1" dirty="0">
                <a:latin typeface="Amasis MT Pro Black" panose="02040A04050005020304" pitchFamily="18" charset="0"/>
              </a:rPr>
              <a:t>JDBC connection:</a:t>
            </a:r>
          </a:p>
        </p:txBody>
      </p:sp>
      <p:pic>
        <p:nvPicPr>
          <p:cNvPr id="3074" name="Picture 2" descr="Free Airplane Vector Clipart (PNG, SVG) to Edit Online">
            <a:extLst>
              <a:ext uri="{FF2B5EF4-FFF2-40B4-BE49-F238E27FC236}">
                <a16:creationId xmlns:a16="http://schemas.microsoft.com/office/drawing/2014/main" id="{81C2BE5A-8DAC-7AD0-C8F1-FB9FE857BD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2" b="27805"/>
          <a:stretch>
            <a:fillRect/>
          </a:stretch>
        </p:blipFill>
        <p:spPr bwMode="auto">
          <a:xfrm>
            <a:off x="9333570" y="591454"/>
            <a:ext cx="1730298" cy="78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F06897-D2E4-006F-603D-2EBFC3AB0358}"/>
              </a:ext>
            </a:extLst>
          </p:cNvPr>
          <p:cNvSpPr txBox="1">
            <a:spLocks/>
          </p:cNvSpPr>
          <p:nvPr/>
        </p:nvSpPr>
        <p:spPr>
          <a:xfrm>
            <a:off x="7347499" y="4124812"/>
            <a:ext cx="4240107" cy="862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E6DCD9-6006-4126-FBA1-693418461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55" y="902589"/>
            <a:ext cx="7973491" cy="32222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0C30A5-D325-7CA2-B6C8-EF1DDB5AD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54" y="4124812"/>
            <a:ext cx="7973491" cy="217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8955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7595C-4BE4-94D3-FEC5-A272D1DC6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3E82C-AA63-80AB-83EA-B2225296E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58" y="726155"/>
            <a:ext cx="10871548" cy="862215"/>
          </a:xfrm>
        </p:spPr>
        <p:txBody>
          <a:bodyPr/>
          <a:lstStyle/>
          <a:p>
            <a:r>
              <a:rPr lang="en-US" sz="3200" b="1" dirty="0"/>
              <a:t>database schema using JDBC:</a:t>
            </a:r>
            <a:endParaRPr lang="en-US" sz="3200" b="1" dirty="0">
              <a:latin typeface="Amasis MT Pro Black" panose="02040A04050005020304" pitchFamily="18" charset="0"/>
            </a:endParaRPr>
          </a:p>
        </p:txBody>
      </p:sp>
      <p:pic>
        <p:nvPicPr>
          <p:cNvPr id="3074" name="Picture 2" descr="Free Airplane Vector Clipart (PNG, SVG) to Edit Online">
            <a:extLst>
              <a:ext uri="{FF2B5EF4-FFF2-40B4-BE49-F238E27FC236}">
                <a16:creationId xmlns:a16="http://schemas.microsoft.com/office/drawing/2014/main" id="{6B35096E-1592-5EC0-5011-2809B74178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2" b="27805"/>
          <a:stretch>
            <a:fillRect/>
          </a:stretch>
        </p:blipFill>
        <p:spPr bwMode="auto">
          <a:xfrm>
            <a:off x="9333570" y="591454"/>
            <a:ext cx="1730298" cy="78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8B6AF62-973A-06D3-7FC5-7563E3111D46}"/>
              </a:ext>
            </a:extLst>
          </p:cNvPr>
          <p:cNvSpPr txBox="1">
            <a:spLocks/>
          </p:cNvSpPr>
          <p:nvPr/>
        </p:nvSpPr>
        <p:spPr>
          <a:xfrm>
            <a:off x="7347499" y="4124812"/>
            <a:ext cx="4240107" cy="862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04E0B7-5AFC-4DBE-9A7F-05C27C55A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106" y="1680840"/>
            <a:ext cx="7756042" cy="8482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702DFC-6E0E-4641-80B3-5D690E6BA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6106" y="2927040"/>
            <a:ext cx="7756042" cy="284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3484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05103-2480-1ECF-8DE2-1CF6E214E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B936A-E6BC-8729-E9EF-2468E2FC6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58" y="404247"/>
            <a:ext cx="10871548" cy="862215"/>
          </a:xfrm>
        </p:spPr>
        <p:txBody>
          <a:bodyPr/>
          <a:lstStyle/>
          <a:p>
            <a:r>
              <a:rPr lang="en-US" sz="3200" b="1" dirty="0"/>
              <a:t>database schema using JDBC:</a:t>
            </a:r>
            <a:endParaRPr lang="en-US" sz="3200" b="1" dirty="0">
              <a:latin typeface="Amasis MT Pro Black" panose="02040A04050005020304" pitchFamily="18" charset="0"/>
            </a:endParaRPr>
          </a:p>
        </p:txBody>
      </p:sp>
      <p:pic>
        <p:nvPicPr>
          <p:cNvPr id="3074" name="Picture 2" descr="Free Airplane Vector Clipart (PNG, SVG) to Edit Online">
            <a:extLst>
              <a:ext uri="{FF2B5EF4-FFF2-40B4-BE49-F238E27FC236}">
                <a16:creationId xmlns:a16="http://schemas.microsoft.com/office/drawing/2014/main" id="{394CBD1B-0E9F-DA01-066D-B41F4FB7D7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2" b="27805"/>
          <a:stretch>
            <a:fillRect/>
          </a:stretch>
        </p:blipFill>
        <p:spPr bwMode="auto">
          <a:xfrm>
            <a:off x="9979135" y="484311"/>
            <a:ext cx="1730298" cy="78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75CA59E-DEA5-89E8-A5DE-FD2F0EC55624}"/>
              </a:ext>
            </a:extLst>
          </p:cNvPr>
          <p:cNvSpPr txBox="1">
            <a:spLocks/>
          </p:cNvSpPr>
          <p:nvPr/>
        </p:nvSpPr>
        <p:spPr>
          <a:xfrm>
            <a:off x="7347499" y="4124812"/>
            <a:ext cx="4240107" cy="862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2E6E40-304E-AF88-5733-2303A2622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366" y="835354"/>
            <a:ext cx="8074596" cy="28578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05FA7E-6D9C-67D2-211E-E32A7A449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772" y="3616207"/>
            <a:ext cx="8089190" cy="283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22181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6767C-2A2D-B07D-6A21-1E2E6F5C0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E4404-9136-E515-0CE6-39D2AD114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58" y="835354"/>
            <a:ext cx="10871548" cy="862215"/>
          </a:xfrm>
        </p:spPr>
        <p:txBody>
          <a:bodyPr/>
          <a:lstStyle/>
          <a:p>
            <a:r>
              <a:rPr lang="en-US" sz="3200" b="1" dirty="0" err="1"/>
              <a:t>oUTPUT</a:t>
            </a:r>
            <a:r>
              <a:rPr lang="en-US" sz="3200" b="1" dirty="0"/>
              <a:t>:</a:t>
            </a:r>
            <a:endParaRPr lang="en-US" sz="3200" b="1" dirty="0">
              <a:latin typeface="Amasis MT Pro Black" panose="02040A04050005020304" pitchFamily="18" charset="0"/>
            </a:endParaRPr>
          </a:p>
        </p:txBody>
      </p:sp>
      <p:pic>
        <p:nvPicPr>
          <p:cNvPr id="3074" name="Picture 2" descr="Free Airplane Vector Clipart (PNG, SVG) to Edit Online">
            <a:extLst>
              <a:ext uri="{FF2B5EF4-FFF2-40B4-BE49-F238E27FC236}">
                <a16:creationId xmlns:a16="http://schemas.microsoft.com/office/drawing/2014/main" id="{59AC0EF5-06FA-1B3A-DCC8-02ABEEEB90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2" b="27805"/>
          <a:stretch>
            <a:fillRect/>
          </a:stretch>
        </p:blipFill>
        <p:spPr bwMode="auto">
          <a:xfrm>
            <a:off x="9979135" y="484311"/>
            <a:ext cx="1730298" cy="78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756708E-E23F-BA7A-BA70-ACA7AF5D41B3}"/>
              </a:ext>
            </a:extLst>
          </p:cNvPr>
          <p:cNvSpPr txBox="1">
            <a:spLocks/>
          </p:cNvSpPr>
          <p:nvPr/>
        </p:nvSpPr>
        <p:spPr>
          <a:xfrm>
            <a:off x="7347499" y="4124812"/>
            <a:ext cx="4240107" cy="862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98C70E-33DB-F870-2EB3-693C8A5FC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24" y="2428735"/>
            <a:ext cx="10402752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38945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EDCB3-54A1-44AD-F618-1096E688D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4EFE-70A0-22B5-5CBD-7629E475F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58" y="835354"/>
            <a:ext cx="10871548" cy="862215"/>
          </a:xfrm>
        </p:spPr>
        <p:txBody>
          <a:bodyPr/>
          <a:lstStyle/>
          <a:p>
            <a:r>
              <a:rPr lang="en-US" sz="3200" b="1" dirty="0">
                <a:latin typeface="Amasis MT Pro Black" panose="02040A04050005020304" pitchFamily="18" charset="0"/>
              </a:rPr>
              <a:t>My application</a:t>
            </a:r>
          </a:p>
        </p:txBody>
      </p:sp>
      <p:pic>
        <p:nvPicPr>
          <p:cNvPr id="3074" name="Picture 2" descr="Free Airplane Vector Clipart (PNG, SVG) to Edit Online">
            <a:extLst>
              <a:ext uri="{FF2B5EF4-FFF2-40B4-BE49-F238E27FC236}">
                <a16:creationId xmlns:a16="http://schemas.microsoft.com/office/drawing/2014/main" id="{79FBE93F-5980-A107-3B2B-1F1D9F4037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2" b="27805"/>
          <a:stretch>
            <a:fillRect/>
          </a:stretch>
        </p:blipFill>
        <p:spPr bwMode="auto">
          <a:xfrm>
            <a:off x="9979135" y="484311"/>
            <a:ext cx="1730298" cy="78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3F1348D-07FE-12A1-5DB8-70C053D5ADAC}"/>
              </a:ext>
            </a:extLst>
          </p:cNvPr>
          <p:cNvSpPr txBox="1">
            <a:spLocks/>
          </p:cNvSpPr>
          <p:nvPr/>
        </p:nvSpPr>
        <p:spPr>
          <a:xfrm>
            <a:off x="7347499" y="4124812"/>
            <a:ext cx="4240107" cy="862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D5965-FEA1-D9E2-2583-53602561C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103" y="1617505"/>
            <a:ext cx="8857680" cy="418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4060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595A4-F946-ED05-57B9-6FAD1CB41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AEE7D-0AB7-49F6-DDE2-83E7BCF4B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58" y="835354"/>
            <a:ext cx="10871548" cy="862215"/>
          </a:xfrm>
        </p:spPr>
        <p:txBody>
          <a:bodyPr/>
          <a:lstStyle/>
          <a:p>
            <a:r>
              <a:rPr lang="en-US" sz="3200" b="1" dirty="0">
                <a:latin typeface="Amasis MT Pro Black" panose="02040A04050005020304" pitchFamily="18" charset="0"/>
              </a:rPr>
              <a:t>My application</a:t>
            </a:r>
          </a:p>
        </p:txBody>
      </p:sp>
      <p:pic>
        <p:nvPicPr>
          <p:cNvPr id="3074" name="Picture 2" descr="Free Airplane Vector Clipart (PNG, SVG) to Edit Online">
            <a:extLst>
              <a:ext uri="{FF2B5EF4-FFF2-40B4-BE49-F238E27FC236}">
                <a16:creationId xmlns:a16="http://schemas.microsoft.com/office/drawing/2014/main" id="{D0F83B4D-7141-78B6-4CC3-7F08BD7B70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2" b="27805"/>
          <a:stretch>
            <a:fillRect/>
          </a:stretch>
        </p:blipFill>
        <p:spPr bwMode="auto">
          <a:xfrm>
            <a:off x="9979135" y="484311"/>
            <a:ext cx="1730298" cy="78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7DB6DD7-5701-A176-6F77-58E609061F99}"/>
              </a:ext>
            </a:extLst>
          </p:cNvPr>
          <p:cNvSpPr txBox="1">
            <a:spLocks/>
          </p:cNvSpPr>
          <p:nvPr/>
        </p:nvSpPr>
        <p:spPr>
          <a:xfrm>
            <a:off x="7347499" y="4124812"/>
            <a:ext cx="4240107" cy="862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DAA76E-A36B-CF22-38E9-C81212CB8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007" y="1899391"/>
            <a:ext cx="9437649" cy="381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44793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7F71A-812D-1D45-FB8F-F991FB7A3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52212-06DA-630B-B7BF-48AC71EC5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9951" y="1441359"/>
            <a:ext cx="10871548" cy="862215"/>
          </a:xfrm>
        </p:spPr>
        <p:txBody>
          <a:bodyPr/>
          <a:lstStyle/>
          <a:p>
            <a:r>
              <a:rPr lang="en-US" sz="3200" b="1" dirty="0">
                <a:latin typeface="Amasis MT Pro Black" panose="02040A04050005020304" pitchFamily="18" charset="0"/>
              </a:rPr>
              <a:t>My application</a:t>
            </a:r>
          </a:p>
        </p:txBody>
      </p:sp>
      <p:pic>
        <p:nvPicPr>
          <p:cNvPr id="3074" name="Picture 2" descr="Free Airplane Vector Clipart (PNG, SVG) to Edit Online">
            <a:extLst>
              <a:ext uri="{FF2B5EF4-FFF2-40B4-BE49-F238E27FC236}">
                <a16:creationId xmlns:a16="http://schemas.microsoft.com/office/drawing/2014/main" id="{4F30651C-EBB9-DDDF-5B4E-15E99F8E9A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2" b="27805"/>
          <a:stretch>
            <a:fillRect/>
          </a:stretch>
        </p:blipFill>
        <p:spPr bwMode="auto">
          <a:xfrm>
            <a:off x="8209712" y="484311"/>
            <a:ext cx="1730298" cy="78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290B1CB-6FDF-EBD2-D041-EA05432B0DE3}"/>
              </a:ext>
            </a:extLst>
          </p:cNvPr>
          <p:cNvSpPr txBox="1">
            <a:spLocks/>
          </p:cNvSpPr>
          <p:nvPr/>
        </p:nvSpPr>
        <p:spPr>
          <a:xfrm>
            <a:off x="7347499" y="4124812"/>
            <a:ext cx="4240107" cy="862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90E1C6-00FC-4593-C397-98EFC6887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515" y="648819"/>
            <a:ext cx="6099548" cy="5560362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7128C73-6366-CD84-0530-1A115851A50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47499" y="2783085"/>
            <a:ext cx="4147815" cy="86221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600" dirty="0"/>
              <a:t>I added some methods that will</a:t>
            </a:r>
          </a:p>
          <a:p>
            <a:pPr marL="0" indent="0" algn="ctr">
              <a:buNone/>
            </a:pPr>
            <a:r>
              <a:rPr lang="en-US" sz="1600" dirty="0"/>
              <a:t> update (change) a passengers’ </a:t>
            </a:r>
          </a:p>
          <a:p>
            <a:pPr marL="0" indent="0" algn="ctr">
              <a:buNone/>
            </a:pPr>
            <a:r>
              <a:rPr lang="en-US" sz="1600" dirty="0"/>
              <a:t>seat, destination, or email.</a:t>
            </a:r>
          </a:p>
        </p:txBody>
      </p:sp>
    </p:spTree>
    <p:extLst>
      <p:ext uri="{BB962C8B-B14F-4D97-AF65-F5344CB8AC3E}">
        <p14:creationId xmlns:p14="http://schemas.microsoft.com/office/powerpoint/2010/main" val="4266353225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6E2C-040E-4D92-F9F7-F61C47F4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376" y="4790702"/>
            <a:ext cx="7014009" cy="1507672"/>
          </a:xfrm>
        </p:spPr>
        <p:txBody>
          <a:bodyPr/>
          <a:lstStyle/>
          <a:p>
            <a:r>
              <a:rPr lang="en-US" sz="6600" dirty="0"/>
              <a:t>THANK YOU!</a:t>
            </a:r>
          </a:p>
        </p:txBody>
      </p:sp>
      <p:pic>
        <p:nvPicPr>
          <p:cNvPr id="6" name="Picture 2" descr="Free Airplane Vector Clipart (PNG, SVG) to Edit Online">
            <a:extLst>
              <a:ext uri="{FF2B5EF4-FFF2-40B4-BE49-F238E27FC236}">
                <a16:creationId xmlns:a16="http://schemas.microsoft.com/office/drawing/2014/main" id="{2C9EABA5-F334-AEF0-298C-856F5F6A38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26" b="24729"/>
          <a:stretch>
            <a:fillRect/>
          </a:stretch>
        </p:blipFill>
        <p:spPr bwMode="auto">
          <a:xfrm>
            <a:off x="1316906" y="5283281"/>
            <a:ext cx="2776654" cy="133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655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{70B333C3-CB8E-42B6-9A79-3CF52C60DFEA}f4c2fa09-5552-4190-875c-1979579583e2-TFc553d604-a3b6-4c52-b2ed-3a769335c0fd_win32</Template>
  <TotalTime>863</TotalTime>
  <Words>118</Words>
  <Application>Microsoft Office PowerPoint</Application>
  <PresentationFormat>Widescreen</PresentationFormat>
  <Paragraphs>26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Amasis MT Pro Black</vt:lpstr>
      <vt:lpstr>Aptos</vt:lpstr>
      <vt:lpstr>Arial</vt:lpstr>
      <vt:lpstr>Lora</vt:lpstr>
      <vt:lpstr>Playfair Display Black</vt:lpstr>
      <vt:lpstr>Poppins Light</vt:lpstr>
      <vt:lpstr>Gradient Circle</vt:lpstr>
      <vt:lpstr>Airline Reservation system design </vt:lpstr>
      <vt:lpstr>ER diagram:</vt:lpstr>
      <vt:lpstr>DDL statements for each entity:</vt:lpstr>
      <vt:lpstr>DDL statements for each entity:</vt:lpstr>
      <vt:lpstr>DDL Relationships:</vt:lpstr>
      <vt:lpstr>Insert statements:</vt:lpstr>
      <vt:lpstr>Insert statements:</vt:lpstr>
      <vt:lpstr>Insert statements:</vt:lpstr>
      <vt:lpstr>Insert statements:</vt:lpstr>
      <vt:lpstr>Insert statements:</vt:lpstr>
      <vt:lpstr>Insert statements (relationship):</vt:lpstr>
      <vt:lpstr>JDBC connection:</vt:lpstr>
      <vt:lpstr>database schema using JDBC:</vt:lpstr>
      <vt:lpstr>database schema using JDBC:</vt:lpstr>
      <vt:lpstr>oUTPUT:</vt:lpstr>
      <vt:lpstr>My application</vt:lpstr>
      <vt:lpstr>My application</vt:lpstr>
      <vt:lpstr>My application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Domenica Alejandra Vasco Sandoval</dc:creator>
  <cp:lastModifiedBy>Domenica Alejandra Vasco Sandoval</cp:lastModifiedBy>
  <cp:revision>6</cp:revision>
  <dcterms:created xsi:type="dcterms:W3CDTF">2026-03-24T14:38:36Z</dcterms:created>
  <dcterms:modified xsi:type="dcterms:W3CDTF">2026-03-26T18:00:54Z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